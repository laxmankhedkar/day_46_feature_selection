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57" r:id="rId4"/>
    <p:sldId id="258" r:id="rId5"/>
    <p:sldId id="259" r:id="rId6"/>
    <p:sldId id="267" r:id="rId7"/>
    <p:sldId id="260" r:id="rId8"/>
    <p:sldId id="265" r:id="rId9"/>
    <p:sldId id="268" r:id="rId10"/>
    <p:sldId id="261" r:id="rId11"/>
    <p:sldId id="262" r:id="rId12"/>
    <p:sldId id="269" r:id="rId13"/>
    <p:sldId id="263" r:id="rId14"/>
    <p:sldId id="270"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28323-D6D7-4FC2-DABA-80601846AE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E17E858-52B7-7F3F-1695-5005DAD5A2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B76743B-5ACA-B11E-0AD4-AC0F2A9EC3F6}"/>
              </a:ext>
            </a:extLst>
          </p:cNvPr>
          <p:cNvSpPr>
            <a:spLocks noGrp="1"/>
          </p:cNvSpPr>
          <p:nvPr>
            <p:ph type="dt" sz="half" idx="10"/>
          </p:nvPr>
        </p:nvSpPr>
        <p:spPr/>
        <p:txBody>
          <a:bodyPr/>
          <a:lstStyle/>
          <a:p>
            <a:fld id="{0EEFCBB5-256C-46A7-BDE8-2C132B0B49F0}" type="datetimeFigureOut">
              <a:rPr lang="en-IN" smtClean="0"/>
              <a:t>01-03-2023</a:t>
            </a:fld>
            <a:endParaRPr lang="en-IN"/>
          </a:p>
        </p:txBody>
      </p:sp>
      <p:sp>
        <p:nvSpPr>
          <p:cNvPr id="5" name="Footer Placeholder 4">
            <a:extLst>
              <a:ext uri="{FF2B5EF4-FFF2-40B4-BE49-F238E27FC236}">
                <a16:creationId xmlns:a16="http://schemas.microsoft.com/office/drawing/2014/main" id="{91EB9A17-7049-2CB6-1724-0F6B067FBD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DC3AEC-D1F7-69FB-5F9E-E46AE9E8208D}"/>
              </a:ext>
            </a:extLst>
          </p:cNvPr>
          <p:cNvSpPr>
            <a:spLocks noGrp="1"/>
          </p:cNvSpPr>
          <p:nvPr>
            <p:ph type="sldNum" sz="quarter" idx="12"/>
          </p:nvPr>
        </p:nvSpPr>
        <p:spPr/>
        <p:txBody>
          <a:bodyPr/>
          <a:lstStyle/>
          <a:p>
            <a:fld id="{3760A24A-D408-4C49-8E0E-EF5180844857}" type="slidenum">
              <a:rPr lang="en-IN" smtClean="0"/>
              <a:t>‹#›</a:t>
            </a:fld>
            <a:endParaRPr lang="en-IN"/>
          </a:p>
        </p:txBody>
      </p:sp>
    </p:spTree>
    <p:extLst>
      <p:ext uri="{BB962C8B-B14F-4D97-AF65-F5344CB8AC3E}">
        <p14:creationId xmlns:p14="http://schemas.microsoft.com/office/powerpoint/2010/main" val="1284905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7BFC9-1BFD-C896-9780-AF58D2C701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7967C2C-083B-7AAF-8037-3EEAA69457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ED4586-909F-D135-9824-FE4AD67AEF62}"/>
              </a:ext>
            </a:extLst>
          </p:cNvPr>
          <p:cNvSpPr>
            <a:spLocks noGrp="1"/>
          </p:cNvSpPr>
          <p:nvPr>
            <p:ph type="dt" sz="half" idx="10"/>
          </p:nvPr>
        </p:nvSpPr>
        <p:spPr/>
        <p:txBody>
          <a:bodyPr/>
          <a:lstStyle/>
          <a:p>
            <a:fld id="{0EEFCBB5-256C-46A7-BDE8-2C132B0B49F0}" type="datetimeFigureOut">
              <a:rPr lang="en-IN" smtClean="0"/>
              <a:t>01-03-2023</a:t>
            </a:fld>
            <a:endParaRPr lang="en-IN"/>
          </a:p>
        </p:txBody>
      </p:sp>
      <p:sp>
        <p:nvSpPr>
          <p:cNvPr id="5" name="Footer Placeholder 4">
            <a:extLst>
              <a:ext uri="{FF2B5EF4-FFF2-40B4-BE49-F238E27FC236}">
                <a16:creationId xmlns:a16="http://schemas.microsoft.com/office/drawing/2014/main" id="{35742128-222B-44C4-4364-4E0E64A3DC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48FB8E-5802-8F59-52DC-962465B14C75}"/>
              </a:ext>
            </a:extLst>
          </p:cNvPr>
          <p:cNvSpPr>
            <a:spLocks noGrp="1"/>
          </p:cNvSpPr>
          <p:nvPr>
            <p:ph type="sldNum" sz="quarter" idx="12"/>
          </p:nvPr>
        </p:nvSpPr>
        <p:spPr/>
        <p:txBody>
          <a:bodyPr/>
          <a:lstStyle/>
          <a:p>
            <a:fld id="{3760A24A-D408-4C49-8E0E-EF5180844857}" type="slidenum">
              <a:rPr lang="en-IN" smtClean="0"/>
              <a:t>‹#›</a:t>
            </a:fld>
            <a:endParaRPr lang="en-IN"/>
          </a:p>
        </p:txBody>
      </p:sp>
    </p:spTree>
    <p:extLst>
      <p:ext uri="{BB962C8B-B14F-4D97-AF65-F5344CB8AC3E}">
        <p14:creationId xmlns:p14="http://schemas.microsoft.com/office/powerpoint/2010/main" val="524390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7D583-3D41-04AE-074D-CD1B19EBC2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20A7FAA-9D06-1C66-1D01-4E9EB58C42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37A84E-9369-BD54-FBA1-1C9D9FF876A4}"/>
              </a:ext>
            </a:extLst>
          </p:cNvPr>
          <p:cNvSpPr>
            <a:spLocks noGrp="1"/>
          </p:cNvSpPr>
          <p:nvPr>
            <p:ph type="dt" sz="half" idx="10"/>
          </p:nvPr>
        </p:nvSpPr>
        <p:spPr/>
        <p:txBody>
          <a:bodyPr/>
          <a:lstStyle/>
          <a:p>
            <a:fld id="{0EEFCBB5-256C-46A7-BDE8-2C132B0B49F0}" type="datetimeFigureOut">
              <a:rPr lang="en-IN" smtClean="0"/>
              <a:t>01-03-2023</a:t>
            </a:fld>
            <a:endParaRPr lang="en-IN"/>
          </a:p>
        </p:txBody>
      </p:sp>
      <p:sp>
        <p:nvSpPr>
          <p:cNvPr id="5" name="Footer Placeholder 4">
            <a:extLst>
              <a:ext uri="{FF2B5EF4-FFF2-40B4-BE49-F238E27FC236}">
                <a16:creationId xmlns:a16="http://schemas.microsoft.com/office/drawing/2014/main" id="{69E7ADD8-148C-4B26-A469-38A528251F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D3E9D5-F7E4-BAA5-77DD-059EE3A3D78D}"/>
              </a:ext>
            </a:extLst>
          </p:cNvPr>
          <p:cNvSpPr>
            <a:spLocks noGrp="1"/>
          </p:cNvSpPr>
          <p:nvPr>
            <p:ph type="sldNum" sz="quarter" idx="12"/>
          </p:nvPr>
        </p:nvSpPr>
        <p:spPr/>
        <p:txBody>
          <a:bodyPr/>
          <a:lstStyle/>
          <a:p>
            <a:fld id="{3760A24A-D408-4C49-8E0E-EF5180844857}" type="slidenum">
              <a:rPr lang="en-IN" smtClean="0"/>
              <a:t>‹#›</a:t>
            </a:fld>
            <a:endParaRPr lang="en-IN"/>
          </a:p>
        </p:txBody>
      </p:sp>
    </p:spTree>
    <p:extLst>
      <p:ext uri="{BB962C8B-B14F-4D97-AF65-F5344CB8AC3E}">
        <p14:creationId xmlns:p14="http://schemas.microsoft.com/office/powerpoint/2010/main" val="1861991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D50DF-F494-DB46-BF00-BEF983EC1A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10ED79-A449-629A-F87F-581EA11718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220425C-416F-A6BD-C44D-D96D700B50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EBB2928-3A7F-C168-615B-00944ACB3CAE}"/>
              </a:ext>
            </a:extLst>
          </p:cNvPr>
          <p:cNvSpPr>
            <a:spLocks noGrp="1"/>
          </p:cNvSpPr>
          <p:nvPr>
            <p:ph type="dt" sz="half" idx="10"/>
          </p:nvPr>
        </p:nvSpPr>
        <p:spPr/>
        <p:txBody>
          <a:bodyPr/>
          <a:lstStyle/>
          <a:p>
            <a:fld id="{0EEFCBB5-256C-46A7-BDE8-2C132B0B49F0}" type="datetimeFigureOut">
              <a:rPr lang="en-IN" smtClean="0"/>
              <a:t>01-03-2023</a:t>
            </a:fld>
            <a:endParaRPr lang="en-IN"/>
          </a:p>
        </p:txBody>
      </p:sp>
      <p:sp>
        <p:nvSpPr>
          <p:cNvPr id="6" name="Footer Placeholder 5">
            <a:extLst>
              <a:ext uri="{FF2B5EF4-FFF2-40B4-BE49-F238E27FC236}">
                <a16:creationId xmlns:a16="http://schemas.microsoft.com/office/drawing/2014/main" id="{BC77590E-8368-C05F-D76A-C3E21F9EB4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2E2E84-5252-1763-409E-AE45D10A4042}"/>
              </a:ext>
            </a:extLst>
          </p:cNvPr>
          <p:cNvSpPr>
            <a:spLocks noGrp="1"/>
          </p:cNvSpPr>
          <p:nvPr>
            <p:ph type="sldNum" sz="quarter" idx="12"/>
          </p:nvPr>
        </p:nvSpPr>
        <p:spPr/>
        <p:txBody>
          <a:bodyPr/>
          <a:lstStyle/>
          <a:p>
            <a:fld id="{3760A24A-D408-4C49-8E0E-EF5180844857}" type="slidenum">
              <a:rPr lang="en-IN" smtClean="0"/>
              <a:t>‹#›</a:t>
            </a:fld>
            <a:endParaRPr lang="en-IN"/>
          </a:p>
        </p:txBody>
      </p:sp>
    </p:spTree>
    <p:extLst>
      <p:ext uri="{BB962C8B-B14F-4D97-AF65-F5344CB8AC3E}">
        <p14:creationId xmlns:p14="http://schemas.microsoft.com/office/powerpoint/2010/main" val="4215506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3D716-7EDD-EF4F-0CD7-F7A8FB26000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319304F-20B8-C5C2-0516-162C03BC2B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D585BC-2FAD-49CC-1834-78F0262889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33E448A-A3CF-E7BA-333C-8EA13C30CC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7BE2AC-A3E9-722E-3044-D10E7D49AF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B8C2F8C-7FC9-0967-FB14-FE1B1A658B3C}"/>
              </a:ext>
            </a:extLst>
          </p:cNvPr>
          <p:cNvSpPr>
            <a:spLocks noGrp="1"/>
          </p:cNvSpPr>
          <p:nvPr>
            <p:ph type="dt" sz="half" idx="10"/>
          </p:nvPr>
        </p:nvSpPr>
        <p:spPr/>
        <p:txBody>
          <a:bodyPr/>
          <a:lstStyle/>
          <a:p>
            <a:fld id="{0EEFCBB5-256C-46A7-BDE8-2C132B0B49F0}" type="datetimeFigureOut">
              <a:rPr lang="en-IN" smtClean="0"/>
              <a:t>01-03-2023</a:t>
            </a:fld>
            <a:endParaRPr lang="en-IN"/>
          </a:p>
        </p:txBody>
      </p:sp>
      <p:sp>
        <p:nvSpPr>
          <p:cNvPr id="8" name="Footer Placeholder 7">
            <a:extLst>
              <a:ext uri="{FF2B5EF4-FFF2-40B4-BE49-F238E27FC236}">
                <a16:creationId xmlns:a16="http://schemas.microsoft.com/office/drawing/2014/main" id="{C7E94DC0-3524-4893-EA0E-59EE37B44C6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E871D68-6D26-EA64-2A72-B00C7984D12E}"/>
              </a:ext>
            </a:extLst>
          </p:cNvPr>
          <p:cNvSpPr>
            <a:spLocks noGrp="1"/>
          </p:cNvSpPr>
          <p:nvPr>
            <p:ph type="sldNum" sz="quarter" idx="12"/>
          </p:nvPr>
        </p:nvSpPr>
        <p:spPr/>
        <p:txBody>
          <a:bodyPr/>
          <a:lstStyle/>
          <a:p>
            <a:fld id="{3760A24A-D408-4C49-8E0E-EF5180844857}" type="slidenum">
              <a:rPr lang="en-IN" smtClean="0"/>
              <a:t>‹#›</a:t>
            </a:fld>
            <a:endParaRPr lang="en-IN"/>
          </a:p>
        </p:txBody>
      </p:sp>
    </p:spTree>
    <p:extLst>
      <p:ext uri="{BB962C8B-B14F-4D97-AF65-F5344CB8AC3E}">
        <p14:creationId xmlns:p14="http://schemas.microsoft.com/office/powerpoint/2010/main" val="2462817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5F0AF-9C9B-EC30-0C68-E16E54448F8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C4665FC-2C9B-B35A-4DA5-4CFE4A23FBF8}"/>
              </a:ext>
            </a:extLst>
          </p:cNvPr>
          <p:cNvSpPr>
            <a:spLocks noGrp="1"/>
          </p:cNvSpPr>
          <p:nvPr>
            <p:ph type="dt" sz="half" idx="10"/>
          </p:nvPr>
        </p:nvSpPr>
        <p:spPr/>
        <p:txBody>
          <a:bodyPr/>
          <a:lstStyle/>
          <a:p>
            <a:fld id="{0EEFCBB5-256C-46A7-BDE8-2C132B0B49F0}" type="datetimeFigureOut">
              <a:rPr lang="en-IN" smtClean="0"/>
              <a:t>01-03-2023</a:t>
            </a:fld>
            <a:endParaRPr lang="en-IN"/>
          </a:p>
        </p:txBody>
      </p:sp>
      <p:sp>
        <p:nvSpPr>
          <p:cNvPr id="4" name="Footer Placeholder 3">
            <a:extLst>
              <a:ext uri="{FF2B5EF4-FFF2-40B4-BE49-F238E27FC236}">
                <a16:creationId xmlns:a16="http://schemas.microsoft.com/office/drawing/2014/main" id="{88BA5E5D-A72E-3DA7-606D-00DECCB0A48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32B2383-1136-A0D2-0D9C-E956D20A4C4D}"/>
              </a:ext>
            </a:extLst>
          </p:cNvPr>
          <p:cNvSpPr>
            <a:spLocks noGrp="1"/>
          </p:cNvSpPr>
          <p:nvPr>
            <p:ph type="sldNum" sz="quarter" idx="12"/>
          </p:nvPr>
        </p:nvSpPr>
        <p:spPr/>
        <p:txBody>
          <a:bodyPr/>
          <a:lstStyle/>
          <a:p>
            <a:fld id="{3760A24A-D408-4C49-8E0E-EF5180844857}" type="slidenum">
              <a:rPr lang="en-IN" smtClean="0"/>
              <a:t>‹#›</a:t>
            </a:fld>
            <a:endParaRPr lang="en-IN"/>
          </a:p>
        </p:txBody>
      </p:sp>
    </p:spTree>
    <p:extLst>
      <p:ext uri="{BB962C8B-B14F-4D97-AF65-F5344CB8AC3E}">
        <p14:creationId xmlns:p14="http://schemas.microsoft.com/office/powerpoint/2010/main" val="1123237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7942C3-CDC4-1843-8588-CB1E7693E24D}"/>
              </a:ext>
            </a:extLst>
          </p:cNvPr>
          <p:cNvSpPr>
            <a:spLocks noGrp="1"/>
          </p:cNvSpPr>
          <p:nvPr>
            <p:ph type="dt" sz="half" idx="10"/>
          </p:nvPr>
        </p:nvSpPr>
        <p:spPr/>
        <p:txBody>
          <a:bodyPr/>
          <a:lstStyle/>
          <a:p>
            <a:fld id="{0EEFCBB5-256C-46A7-BDE8-2C132B0B49F0}" type="datetimeFigureOut">
              <a:rPr lang="en-IN" smtClean="0"/>
              <a:t>01-03-2023</a:t>
            </a:fld>
            <a:endParaRPr lang="en-IN"/>
          </a:p>
        </p:txBody>
      </p:sp>
      <p:sp>
        <p:nvSpPr>
          <p:cNvPr id="3" name="Footer Placeholder 2">
            <a:extLst>
              <a:ext uri="{FF2B5EF4-FFF2-40B4-BE49-F238E27FC236}">
                <a16:creationId xmlns:a16="http://schemas.microsoft.com/office/drawing/2014/main" id="{963AE615-9E14-3A05-0207-CF4CB044632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4C17418-8D87-488A-A7BB-BF59B745DE81}"/>
              </a:ext>
            </a:extLst>
          </p:cNvPr>
          <p:cNvSpPr>
            <a:spLocks noGrp="1"/>
          </p:cNvSpPr>
          <p:nvPr>
            <p:ph type="sldNum" sz="quarter" idx="12"/>
          </p:nvPr>
        </p:nvSpPr>
        <p:spPr/>
        <p:txBody>
          <a:bodyPr/>
          <a:lstStyle/>
          <a:p>
            <a:fld id="{3760A24A-D408-4C49-8E0E-EF5180844857}" type="slidenum">
              <a:rPr lang="en-IN" smtClean="0"/>
              <a:t>‹#›</a:t>
            </a:fld>
            <a:endParaRPr lang="en-IN"/>
          </a:p>
        </p:txBody>
      </p:sp>
    </p:spTree>
    <p:extLst>
      <p:ext uri="{BB962C8B-B14F-4D97-AF65-F5344CB8AC3E}">
        <p14:creationId xmlns:p14="http://schemas.microsoft.com/office/powerpoint/2010/main" val="2786588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6F603-6BE4-380E-9EA3-1A3B20C77D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B4EA069-B27D-709A-7D67-17192146B1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B89558D-97B8-1A02-2E07-12F804CECD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03AEA0-51DC-9611-DC38-3476B23A21C9}"/>
              </a:ext>
            </a:extLst>
          </p:cNvPr>
          <p:cNvSpPr>
            <a:spLocks noGrp="1"/>
          </p:cNvSpPr>
          <p:nvPr>
            <p:ph type="dt" sz="half" idx="10"/>
          </p:nvPr>
        </p:nvSpPr>
        <p:spPr/>
        <p:txBody>
          <a:bodyPr/>
          <a:lstStyle/>
          <a:p>
            <a:fld id="{0EEFCBB5-256C-46A7-BDE8-2C132B0B49F0}" type="datetimeFigureOut">
              <a:rPr lang="en-IN" smtClean="0"/>
              <a:t>01-03-2023</a:t>
            </a:fld>
            <a:endParaRPr lang="en-IN"/>
          </a:p>
        </p:txBody>
      </p:sp>
      <p:sp>
        <p:nvSpPr>
          <p:cNvPr id="6" name="Footer Placeholder 5">
            <a:extLst>
              <a:ext uri="{FF2B5EF4-FFF2-40B4-BE49-F238E27FC236}">
                <a16:creationId xmlns:a16="http://schemas.microsoft.com/office/drawing/2014/main" id="{377A9798-26F0-4473-5368-D783F5B1A7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F6AF79-A982-123C-5B26-15A593C42DB1}"/>
              </a:ext>
            </a:extLst>
          </p:cNvPr>
          <p:cNvSpPr>
            <a:spLocks noGrp="1"/>
          </p:cNvSpPr>
          <p:nvPr>
            <p:ph type="sldNum" sz="quarter" idx="12"/>
          </p:nvPr>
        </p:nvSpPr>
        <p:spPr/>
        <p:txBody>
          <a:bodyPr/>
          <a:lstStyle/>
          <a:p>
            <a:fld id="{3760A24A-D408-4C49-8E0E-EF5180844857}" type="slidenum">
              <a:rPr lang="en-IN" smtClean="0"/>
              <a:t>‹#›</a:t>
            </a:fld>
            <a:endParaRPr lang="en-IN"/>
          </a:p>
        </p:txBody>
      </p:sp>
    </p:spTree>
    <p:extLst>
      <p:ext uri="{BB962C8B-B14F-4D97-AF65-F5344CB8AC3E}">
        <p14:creationId xmlns:p14="http://schemas.microsoft.com/office/powerpoint/2010/main" val="3819465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089A1-9040-9D32-DE92-772E552CB8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9265310-D1CD-64BA-F350-8E94A4BE09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FB91A92-B009-9A6A-D80B-C8B55EEC47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ADF361-5F59-7E58-46DB-49139AA75104}"/>
              </a:ext>
            </a:extLst>
          </p:cNvPr>
          <p:cNvSpPr>
            <a:spLocks noGrp="1"/>
          </p:cNvSpPr>
          <p:nvPr>
            <p:ph type="dt" sz="half" idx="10"/>
          </p:nvPr>
        </p:nvSpPr>
        <p:spPr/>
        <p:txBody>
          <a:bodyPr/>
          <a:lstStyle/>
          <a:p>
            <a:fld id="{0EEFCBB5-256C-46A7-BDE8-2C132B0B49F0}" type="datetimeFigureOut">
              <a:rPr lang="en-IN" smtClean="0"/>
              <a:t>01-03-2023</a:t>
            </a:fld>
            <a:endParaRPr lang="en-IN"/>
          </a:p>
        </p:txBody>
      </p:sp>
      <p:sp>
        <p:nvSpPr>
          <p:cNvPr id="6" name="Footer Placeholder 5">
            <a:extLst>
              <a:ext uri="{FF2B5EF4-FFF2-40B4-BE49-F238E27FC236}">
                <a16:creationId xmlns:a16="http://schemas.microsoft.com/office/drawing/2014/main" id="{0F181143-B11C-A5BF-913E-B33B2B7AF5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68E1F3-8785-F40F-498F-59E0DC9C2CD9}"/>
              </a:ext>
            </a:extLst>
          </p:cNvPr>
          <p:cNvSpPr>
            <a:spLocks noGrp="1"/>
          </p:cNvSpPr>
          <p:nvPr>
            <p:ph type="sldNum" sz="quarter" idx="12"/>
          </p:nvPr>
        </p:nvSpPr>
        <p:spPr/>
        <p:txBody>
          <a:bodyPr/>
          <a:lstStyle/>
          <a:p>
            <a:fld id="{3760A24A-D408-4C49-8E0E-EF5180844857}" type="slidenum">
              <a:rPr lang="en-IN" smtClean="0"/>
              <a:t>‹#›</a:t>
            </a:fld>
            <a:endParaRPr lang="en-IN"/>
          </a:p>
        </p:txBody>
      </p:sp>
    </p:spTree>
    <p:extLst>
      <p:ext uri="{BB962C8B-B14F-4D97-AF65-F5344CB8AC3E}">
        <p14:creationId xmlns:p14="http://schemas.microsoft.com/office/powerpoint/2010/main" val="1230698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0E2C3-3C9E-165C-8855-C3B86394558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726557-9DDB-26CB-9000-74379AE25F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C1A675-0DD9-4CD0-E915-757C9162B67B}"/>
              </a:ext>
            </a:extLst>
          </p:cNvPr>
          <p:cNvSpPr>
            <a:spLocks noGrp="1"/>
          </p:cNvSpPr>
          <p:nvPr>
            <p:ph type="dt" sz="half" idx="10"/>
          </p:nvPr>
        </p:nvSpPr>
        <p:spPr/>
        <p:txBody>
          <a:bodyPr/>
          <a:lstStyle/>
          <a:p>
            <a:fld id="{0EEFCBB5-256C-46A7-BDE8-2C132B0B49F0}" type="datetimeFigureOut">
              <a:rPr lang="en-IN" smtClean="0"/>
              <a:t>01-03-2023</a:t>
            </a:fld>
            <a:endParaRPr lang="en-IN"/>
          </a:p>
        </p:txBody>
      </p:sp>
      <p:sp>
        <p:nvSpPr>
          <p:cNvPr id="5" name="Footer Placeholder 4">
            <a:extLst>
              <a:ext uri="{FF2B5EF4-FFF2-40B4-BE49-F238E27FC236}">
                <a16:creationId xmlns:a16="http://schemas.microsoft.com/office/drawing/2014/main" id="{57FC52A4-6EE9-36BD-0AAE-BD13E4D2C6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82EC33-4ABD-F8EE-A1FB-57532BCDEBE6}"/>
              </a:ext>
            </a:extLst>
          </p:cNvPr>
          <p:cNvSpPr>
            <a:spLocks noGrp="1"/>
          </p:cNvSpPr>
          <p:nvPr>
            <p:ph type="sldNum" sz="quarter" idx="12"/>
          </p:nvPr>
        </p:nvSpPr>
        <p:spPr/>
        <p:txBody>
          <a:bodyPr/>
          <a:lstStyle/>
          <a:p>
            <a:fld id="{3760A24A-D408-4C49-8E0E-EF5180844857}" type="slidenum">
              <a:rPr lang="en-IN" smtClean="0"/>
              <a:t>‹#›</a:t>
            </a:fld>
            <a:endParaRPr lang="en-IN"/>
          </a:p>
        </p:txBody>
      </p:sp>
    </p:spTree>
    <p:extLst>
      <p:ext uri="{BB962C8B-B14F-4D97-AF65-F5344CB8AC3E}">
        <p14:creationId xmlns:p14="http://schemas.microsoft.com/office/powerpoint/2010/main" val="2587194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F5D2B1-D043-334B-93BD-31ADED0DB1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CFE1B50-D770-34D4-2BE4-158E021306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85D640-F157-24BC-AD45-0993B4D7335E}"/>
              </a:ext>
            </a:extLst>
          </p:cNvPr>
          <p:cNvSpPr>
            <a:spLocks noGrp="1"/>
          </p:cNvSpPr>
          <p:nvPr>
            <p:ph type="dt" sz="half" idx="10"/>
          </p:nvPr>
        </p:nvSpPr>
        <p:spPr/>
        <p:txBody>
          <a:bodyPr/>
          <a:lstStyle/>
          <a:p>
            <a:fld id="{0EEFCBB5-256C-46A7-BDE8-2C132B0B49F0}" type="datetimeFigureOut">
              <a:rPr lang="en-IN" smtClean="0"/>
              <a:t>01-03-2023</a:t>
            </a:fld>
            <a:endParaRPr lang="en-IN"/>
          </a:p>
        </p:txBody>
      </p:sp>
      <p:sp>
        <p:nvSpPr>
          <p:cNvPr id="5" name="Footer Placeholder 4">
            <a:extLst>
              <a:ext uri="{FF2B5EF4-FFF2-40B4-BE49-F238E27FC236}">
                <a16:creationId xmlns:a16="http://schemas.microsoft.com/office/drawing/2014/main" id="{FBCE1847-DE92-D910-E1F0-207F02E06A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E9E839-CA24-52EB-CB86-208D5D5E1A17}"/>
              </a:ext>
            </a:extLst>
          </p:cNvPr>
          <p:cNvSpPr>
            <a:spLocks noGrp="1"/>
          </p:cNvSpPr>
          <p:nvPr>
            <p:ph type="sldNum" sz="quarter" idx="12"/>
          </p:nvPr>
        </p:nvSpPr>
        <p:spPr/>
        <p:txBody>
          <a:bodyPr/>
          <a:lstStyle/>
          <a:p>
            <a:fld id="{3760A24A-D408-4C49-8E0E-EF5180844857}" type="slidenum">
              <a:rPr lang="en-IN" smtClean="0"/>
              <a:t>‹#›</a:t>
            </a:fld>
            <a:endParaRPr lang="en-IN"/>
          </a:p>
        </p:txBody>
      </p:sp>
    </p:spTree>
    <p:extLst>
      <p:ext uri="{BB962C8B-B14F-4D97-AF65-F5344CB8AC3E}">
        <p14:creationId xmlns:p14="http://schemas.microsoft.com/office/powerpoint/2010/main" val="4093075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F8865B-04A1-A6A3-D229-1CD81FFF30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CE700F6-F027-296F-7D24-36EB2D1F19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0EFABA-C1E0-401F-1787-D784941D3C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EFCBB5-256C-46A7-BDE8-2C132B0B49F0}" type="datetimeFigureOut">
              <a:rPr lang="en-IN" smtClean="0"/>
              <a:t>01-03-2023</a:t>
            </a:fld>
            <a:endParaRPr lang="en-IN"/>
          </a:p>
        </p:txBody>
      </p:sp>
      <p:sp>
        <p:nvSpPr>
          <p:cNvPr id="5" name="Footer Placeholder 4">
            <a:extLst>
              <a:ext uri="{FF2B5EF4-FFF2-40B4-BE49-F238E27FC236}">
                <a16:creationId xmlns:a16="http://schemas.microsoft.com/office/drawing/2014/main" id="{B973946C-53F7-7085-E4E7-3726E64981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FD30D35-71CA-0E39-9828-95927EAFB1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60A24A-D408-4C49-8E0E-EF5180844857}" type="slidenum">
              <a:rPr lang="en-IN" smtClean="0"/>
              <a:t>‹#›</a:t>
            </a:fld>
            <a:endParaRPr lang="en-IN"/>
          </a:p>
        </p:txBody>
      </p:sp>
    </p:spTree>
    <p:extLst>
      <p:ext uri="{BB962C8B-B14F-4D97-AF65-F5344CB8AC3E}">
        <p14:creationId xmlns:p14="http://schemas.microsoft.com/office/powerpoint/2010/main" val="598473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machinelearningmastery.com/feature-selection-with-real-and-categorical-data/"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C9BB2-EB53-E568-2554-A22845FE7BE8}"/>
              </a:ext>
            </a:extLst>
          </p:cNvPr>
          <p:cNvSpPr>
            <a:spLocks noGrp="1"/>
          </p:cNvSpPr>
          <p:nvPr>
            <p:ph type="ctrTitle"/>
          </p:nvPr>
        </p:nvSpPr>
        <p:spPr/>
        <p:txBody>
          <a:bodyPr/>
          <a:lstStyle/>
          <a:p>
            <a:r>
              <a:rPr lang="en-IN" dirty="0"/>
              <a:t>Feature Selection</a:t>
            </a:r>
          </a:p>
        </p:txBody>
      </p:sp>
      <p:sp>
        <p:nvSpPr>
          <p:cNvPr id="3" name="Subtitle 2">
            <a:extLst>
              <a:ext uri="{FF2B5EF4-FFF2-40B4-BE49-F238E27FC236}">
                <a16:creationId xmlns:a16="http://schemas.microsoft.com/office/drawing/2014/main" id="{07E68BCF-A372-0272-D277-62E9F62052F8}"/>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0503679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514F913-3A24-853D-5032-12AF1EB8D8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4880" y="570516"/>
            <a:ext cx="8885202" cy="5525484"/>
          </a:xfrm>
          <a:prstGeom prst="rect">
            <a:avLst/>
          </a:prstGeom>
        </p:spPr>
      </p:pic>
      <p:sp>
        <p:nvSpPr>
          <p:cNvPr id="8" name="TextBox 7">
            <a:extLst>
              <a:ext uri="{FF2B5EF4-FFF2-40B4-BE49-F238E27FC236}">
                <a16:creationId xmlns:a16="http://schemas.microsoft.com/office/drawing/2014/main" id="{D631434A-2F5C-8AE9-D8E3-72999B45BED4}"/>
              </a:ext>
            </a:extLst>
          </p:cNvPr>
          <p:cNvSpPr txBox="1"/>
          <p:nvPr/>
        </p:nvSpPr>
        <p:spPr>
          <a:xfrm>
            <a:off x="640080" y="426720"/>
            <a:ext cx="4068871" cy="369332"/>
          </a:xfrm>
          <a:prstGeom prst="rect">
            <a:avLst/>
          </a:prstGeom>
          <a:noFill/>
        </p:spPr>
        <p:txBody>
          <a:bodyPr wrap="none" rtlCol="0">
            <a:spAutoFit/>
          </a:bodyPr>
          <a:lstStyle/>
          <a:p>
            <a:r>
              <a:rPr lang="en-US" dirty="0"/>
              <a:t>Overview of Feature Selection Technique</a:t>
            </a:r>
            <a:endParaRPr lang="en-IN" dirty="0"/>
          </a:p>
        </p:txBody>
      </p:sp>
    </p:spTree>
    <p:extLst>
      <p:ext uri="{BB962C8B-B14F-4D97-AF65-F5344CB8AC3E}">
        <p14:creationId xmlns:p14="http://schemas.microsoft.com/office/powerpoint/2010/main" val="1227324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8B8B2-4DAA-872C-37A5-3A842D73D06E}"/>
              </a:ext>
            </a:extLst>
          </p:cNvPr>
          <p:cNvSpPr>
            <a:spLocks noGrp="1"/>
          </p:cNvSpPr>
          <p:nvPr>
            <p:ph type="title"/>
          </p:nvPr>
        </p:nvSpPr>
        <p:spPr/>
        <p:txBody>
          <a:bodyPr/>
          <a:lstStyle/>
          <a:p>
            <a:r>
              <a:rPr lang="en-IN" dirty="0"/>
              <a:t>Feature Selection</a:t>
            </a:r>
          </a:p>
        </p:txBody>
      </p:sp>
      <p:sp>
        <p:nvSpPr>
          <p:cNvPr id="3" name="Content Placeholder 2">
            <a:extLst>
              <a:ext uri="{FF2B5EF4-FFF2-40B4-BE49-F238E27FC236}">
                <a16:creationId xmlns:a16="http://schemas.microsoft.com/office/drawing/2014/main" id="{1DC44BBC-948B-5C55-EE3A-3704B93E9ADB}"/>
              </a:ext>
            </a:extLst>
          </p:cNvPr>
          <p:cNvSpPr>
            <a:spLocks noGrp="1"/>
          </p:cNvSpPr>
          <p:nvPr>
            <p:ph idx="1"/>
          </p:nvPr>
        </p:nvSpPr>
        <p:spPr/>
        <p:txBody>
          <a:bodyPr/>
          <a:lstStyle/>
          <a:p>
            <a:r>
              <a:rPr lang="en-US" b="0" dirty="0">
                <a:solidFill>
                  <a:sysClr val="windowText" lastClr="000000"/>
                </a:solidFill>
                <a:effectLst/>
                <a:latin typeface="Bahnschrift" panose="020B0502040204020203" pitchFamily="34" charset="0"/>
              </a:rPr>
              <a:t>Feature selection is a way of selecting the subset of most relevant features from original set of features by removing irrelevant, noisy, or  redundant features </a:t>
            </a:r>
          </a:p>
          <a:p>
            <a:r>
              <a:rPr lang="en-US" dirty="0">
                <a:solidFill>
                  <a:sysClr val="windowText" lastClr="000000"/>
                </a:solidFill>
                <a:latin typeface="Bahnschrift" panose="020B0502040204020203" pitchFamily="34" charset="0"/>
              </a:rPr>
              <a:t>Select </a:t>
            </a:r>
            <a:r>
              <a:rPr lang="en-US" b="0" dirty="0">
                <a:solidFill>
                  <a:sysClr val="windowText" lastClr="000000"/>
                </a:solidFill>
                <a:effectLst/>
                <a:latin typeface="Bahnschrift" panose="020B0502040204020203" pitchFamily="34" charset="0"/>
              </a:rPr>
              <a:t>Best set of features</a:t>
            </a:r>
          </a:p>
        </p:txBody>
      </p:sp>
    </p:spTree>
    <p:extLst>
      <p:ext uri="{BB962C8B-B14F-4D97-AF65-F5344CB8AC3E}">
        <p14:creationId xmlns:p14="http://schemas.microsoft.com/office/powerpoint/2010/main" val="3887185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20F8E-3B3B-A299-0C7D-9A6D09393BC8}"/>
              </a:ext>
            </a:extLst>
          </p:cNvPr>
          <p:cNvSpPr>
            <a:spLocks noGrp="1"/>
          </p:cNvSpPr>
          <p:nvPr>
            <p:ph type="title"/>
          </p:nvPr>
        </p:nvSpPr>
        <p:spPr/>
        <p:txBody>
          <a:bodyPr/>
          <a:lstStyle/>
          <a:p>
            <a:r>
              <a:rPr lang="en-IN" dirty="0"/>
              <a:t>Benefits of Feature Selection</a:t>
            </a:r>
          </a:p>
        </p:txBody>
      </p:sp>
      <p:sp>
        <p:nvSpPr>
          <p:cNvPr id="3" name="Content Placeholder 2">
            <a:extLst>
              <a:ext uri="{FF2B5EF4-FFF2-40B4-BE49-F238E27FC236}">
                <a16:creationId xmlns:a16="http://schemas.microsoft.com/office/drawing/2014/main" id="{6C7E735A-51BA-6053-3A6D-804C6C97CA80}"/>
              </a:ext>
            </a:extLst>
          </p:cNvPr>
          <p:cNvSpPr>
            <a:spLocks noGrp="1"/>
          </p:cNvSpPr>
          <p:nvPr>
            <p:ph idx="1"/>
          </p:nvPr>
        </p:nvSpPr>
        <p:spPr/>
        <p:txBody>
          <a:bodyPr/>
          <a:lstStyle/>
          <a:p>
            <a:r>
              <a:rPr lang="en-US" b="0" dirty="0">
                <a:effectLst/>
                <a:latin typeface="Bahnschrift" panose="020B0502040204020203" pitchFamily="34" charset="0"/>
              </a:rPr>
              <a:t>It helps in avoiding curse of dimensionality</a:t>
            </a:r>
          </a:p>
          <a:p>
            <a:r>
              <a:rPr lang="en-US" b="0" dirty="0">
                <a:effectLst/>
                <a:latin typeface="Bahnschrift" panose="020B0502040204020203" pitchFamily="34" charset="0"/>
              </a:rPr>
              <a:t>It helps to reduce overfitting</a:t>
            </a:r>
          </a:p>
          <a:p>
            <a:r>
              <a:rPr lang="en-US" b="0" dirty="0">
                <a:effectLst/>
                <a:latin typeface="Bahnschrift" panose="020B0502040204020203" pitchFamily="34" charset="0"/>
              </a:rPr>
              <a:t>It reduces training and testing time </a:t>
            </a:r>
          </a:p>
          <a:p>
            <a:r>
              <a:rPr lang="en-US" b="0" dirty="0">
                <a:effectLst/>
                <a:latin typeface="Bahnschrift" panose="020B0502040204020203" pitchFamily="34" charset="0"/>
              </a:rPr>
              <a:t>It helps to improve accuracy</a:t>
            </a:r>
          </a:p>
        </p:txBody>
      </p:sp>
    </p:spTree>
    <p:extLst>
      <p:ext uri="{BB962C8B-B14F-4D97-AF65-F5344CB8AC3E}">
        <p14:creationId xmlns:p14="http://schemas.microsoft.com/office/powerpoint/2010/main" val="2240002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DA650-E4BF-FE82-089D-51303CB027F7}"/>
              </a:ext>
            </a:extLst>
          </p:cNvPr>
          <p:cNvSpPr>
            <a:spLocks noGrp="1"/>
          </p:cNvSpPr>
          <p:nvPr>
            <p:ph type="title"/>
          </p:nvPr>
        </p:nvSpPr>
        <p:spPr/>
        <p:txBody>
          <a:bodyPr/>
          <a:lstStyle/>
          <a:p>
            <a:r>
              <a:rPr lang="en-IN" dirty="0"/>
              <a:t>Feature Selection Technique</a:t>
            </a:r>
          </a:p>
        </p:txBody>
      </p:sp>
      <p:sp>
        <p:nvSpPr>
          <p:cNvPr id="3" name="Content Placeholder 2">
            <a:extLst>
              <a:ext uri="{FF2B5EF4-FFF2-40B4-BE49-F238E27FC236}">
                <a16:creationId xmlns:a16="http://schemas.microsoft.com/office/drawing/2014/main" id="{C96CC5B3-B95B-465D-20F7-3609C3384343}"/>
              </a:ext>
            </a:extLst>
          </p:cNvPr>
          <p:cNvSpPr>
            <a:spLocks noGrp="1"/>
          </p:cNvSpPr>
          <p:nvPr>
            <p:ph idx="1"/>
          </p:nvPr>
        </p:nvSpPr>
        <p:spPr/>
        <p:txBody>
          <a:bodyPr/>
          <a:lstStyle/>
          <a:p>
            <a:r>
              <a:rPr lang="en-IN" dirty="0"/>
              <a:t>Filter Method</a:t>
            </a:r>
          </a:p>
          <a:p>
            <a:r>
              <a:rPr lang="en-IN" dirty="0"/>
              <a:t>Wrapper Method</a:t>
            </a:r>
          </a:p>
          <a:p>
            <a:r>
              <a:rPr lang="en-IN" dirty="0"/>
              <a:t>Embedded Method</a:t>
            </a:r>
          </a:p>
        </p:txBody>
      </p:sp>
    </p:spTree>
    <p:extLst>
      <p:ext uri="{BB962C8B-B14F-4D97-AF65-F5344CB8AC3E}">
        <p14:creationId xmlns:p14="http://schemas.microsoft.com/office/powerpoint/2010/main" val="3786920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85500-816F-2BEE-8382-27D175134D1D}"/>
              </a:ext>
            </a:extLst>
          </p:cNvPr>
          <p:cNvSpPr>
            <a:spLocks noGrp="1"/>
          </p:cNvSpPr>
          <p:nvPr>
            <p:ph type="title"/>
          </p:nvPr>
        </p:nvSpPr>
        <p:spPr/>
        <p:txBody>
          <a:bodyPr/>
          <a:lstStyle/>
          <a:p>
            <a:r>
              <a:rPr lang="en-IN" dirty="0"/>
              <a:t>Filter Method (Before Model Training)</a:t>
            </a:r>
          </a:p>
        </p:txBody>
      </p:sp>
      <p:sp>
        <p:nvSpPr>
          <p:cNvPr id="3" name="Content Placeholder 2">
            <a:extLst>
              <a:ext uri="{FF2B5EF4-FFF2-40B4-BE49-F238E27FC236}">
                <a16:creationId xmlns:a16="http://schemas.microsoft.com/office/drawing/2014/main" id="{04B16250-AFD2-B4FE-9BBB-AB275E8512D4}"/>
              </a:ext>
            </a:extLst>
          </p:cNvPr>
          <p:cNvSpPr>
            <a:spLocks noGrp="1"/>
          </p:cNvSpPr>
          <p:nvPr>
            <p:ph idx="1"/>
          </p:nvPr>
        </p:nvSpPr>
        <p:spPr/>
        <p:txBody>
          <a:bodyPr>
            <a:normAutofit fontScale="77500" lnSpcReduction="20000"/>
          </a:bodyPr>
          <a:lstStyle/>
          <a:p>
            <a:pPr algn="l"/>
            <a:r>
              <a:rPr lang="en-US" b="0" i="0" dirty="0">
                <a:solidFill>
                  <a:srgbClr val="374151"/>
                </a:solidFill>
                <a:effectLst/>
                <a:latin typeface="Söhne"/>
              </a:rPr>
              <a:t>The idea behind filter methods is to rank the features based on their relevance to the target variable or their correlation with other features. The ranking is done before model training, and the most relevant features are selected for the model.</a:t>
            </a:r>
          </a:p>
          <a:p>
            <a:pPr algn="l"/>
            <a:r>
              <a:rPr lang="en-US" b="0" i="0" dirty="0">
                <a:solidFill>
                  <a:srgbClr val="374151"/>
                </a:solidFill>
                <a:effectLst/>
                <a:latin typeface="Söhne"/>
              </a:rPr>
              <a:t>The advantage of using filter methods before model training is that they are computationally efficient and can handle large datasets with many input features. By selecting only the most relevant features, filter methods can also reduce the risk of overfitting and improve the generalization performance of the model.</a:t>
            </a:r>
          </a:p>
          <a:p>
            <a:pPr algn="l"/>
            <a:r>
              <a:rPr lang="en-US" b="0" i="0" dirty="0">
                <a:solidFill>
                  <a:srgbClr val="374151"/>
                </a:solidFill>
                <a:effectLst/>
                <a:latin typeface="Söhne"/>
              </a:rPr>
              <a:t>After applying filter methods, the selected features are used to train the model. Once the model is trained, it can be used to make predictions on new data. If the performance of the model is not satisfactory, other feature selection techniques, such as wrapper or embedded methods, can be applied to refine the feature selection and improve the model's performance.</a:t>
            </a:r>
          </a:p>
          <a:p>
            <a:pPr algn="l"/>
            <a:r>
              <a:rPr lang="en-US" b="0" i="0" dirty="0">
                <a:solidFill>
                  <a:srgbClr val="374151"/>
                </a:solidFill>
                <a:effectLst/>
                <a:latin typeface="Söhne"/>
              </a:rPr>
              <a:t>In summary, filter methods are used before model training to select the most relevant features for the model, while wrapper and embedded methods are used during or after model training to refine the feature selection and improve the model's performance.</a:t>
            </a:r>
          </a:p>
        </p:txBody>
      </p:sp>
      <p:sp>
        <p:nvSpPr>
          <p:cNvPr id="4" name="TextBox 3">
            <a:extLst>
              <a:ext uri="{FF2B5EF4-FFF2-40B4-BE49-F238E27FC236}">
                <a16:creationId xmlns:a16="http://schemas.microsoft.com/office/drawing/2014/main" id="{307CFF1D-7785-3EEC-CF2B-C5E32E892EE5}"/>
              </a:ext>
            </a:extLst>
          </p:cNvPr>
          <p:cNvSpPr txBox="1"/>
          <p:nvPr/>
        </p:nvSpPr>
        <p:spPr>
          <a:xfrm>
            <a:off x="9537021" y="6176963"/>
            <a:ext cx="1816779" cy="369332"/>
          </a:xfrm>
          <a:prstGeom prst="rect">
            <a:avLst/>
          </a:prstGeom>
          <a:noFill/>
        </p:spPr>
        <p:txBody>
          <a:bodyPr wrap="none" rtlCol="0">
            <a:spAutoFit/>
          </a:bodyPr>
          <a:lstStyle/>
          <a:p>
            <a:r>
              <a:rPr lang="en-IN" dirty="0"/>
              <a:t>Credits : </a:t>
            </a:r>
            <a:r>
              <a:rPr lang="en-IN" dirty="0" err="1"/>
              <a:t>ChatGPT</a:t>
            </a:r>
            <a:endParaRPr lang="en-IN" dirty="0"/>
          </a:p>
        </p:txBody>
      </p:sp>
    </p:spTree>
    <p:extLst>
      <p:ext uri="{BB962C8B-B14F-4D97-AF65-F5344CB8AC3E}">
        <p14:creationId xmlns:p14="http://schemas.microsoft.com/office/powerpoint/2010/main" val="1908360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85500-816F-2BEE-8382-27D175134D1D}"/>
              </a:ext>
            </a:extLst>
          </p:cNvPr>
          <p:cNvSpPr>
            <a:spLocks noGrp="1"/>
          </p:cNvSpPr>
          <p:nvPr>
            <p:ph type="title"/>
          </p:nvPr>
        </p:nvSpPr>
        <p:spPr/>
        <p:txBody>
          <a:bodyPr/>
          <a:lstStyle/>
          <a:p>
            <a:r>
              <a:rPr lang="en-IN" dirty="0"/>
              <a:t>Filter Method (Before Model Training)</a:t>
            </a:r>
          </a:p>
        </p:txBody>
      </p:sp>
      <p:sp>
        <p:nvSpPr>
          <p:cNvPr id="3" name="Content Placeholder 2">
            <a:extLst>
              <a:ext uri="{FF2B5EF4-FFF2-40B4-BE49-F238E27FC236}">
                <a16:creationId xmlns:a16="http://schemas.microsoft.com/office/drawing/2014/main" id="{04B16250-AFD2-B4FE-9BBB-AB275E8512D4}"/>
              </a:ext>
            </a:extLst>
          </p:cNvPr>
          <p:cNvSpPr>
            <a:spLocks noGrp="1"/>
          </p:cNvSpPr>
          <p:nvPr>
            <p:ph idx="1"/>
          </p:nvPr>
        </p:nvSpPr>
        <p:spPr/>
        <p:txBody>
          <a:bodyPr>
            <a:normAutofit fontScale="85000" lnSpcReduction="20000"/>
          </a:bodyPr>
          <a:lstStyle/>
          <a:p>
            <a:pPr marL="514350" indent="-514350">
              <a:buFont typeface="+mj-lt"/>
              <a:buAutoNum type="arabicPeriod"/>
            </a:pPr>
            <a:r>
              <a:rPr lang="en-IN" dirty="0">
                <a:latin typeface="Bahnschrift" panose="020B0502040204020203" pitchFamily="34" charset="0"/>
              </a:rPr>
              <a:t>C</a:t>
            </a:r>
            <a:r>
              <a:rPr lang="en-IN" b="0" dirty="0">
                <a:effectLst/>
                <a:latin typeface="Bahnschrift" panose="020B0502040204020203" pitchFamily="34" charset="0"/>
              </a:rPr>
              <a:t>orrelation:</a:t>
            </a:r>
          </a:p>
          <a:p>
            <a:pPr marL="971550" lvl="1" indent="-514350">
              <a:buFont typeface="+mj-lt"/>
              <a:buAutoNum type="arabicPeriod"/>
            </a:pPr>
            <a:r>
              <a:rPr lang="en-IN" b="0" dirty="0">
                <a:effectLst/>
                <a:latin typeface="Bahnschrift" panose="020B0502040204020203" pitchFamily="34" charset="0"/>
              </a:rPr>
              <a:t>Pearson Correlation Coefficient(Continuous </a:t>
            </a:r>
            <a:r>
              <a:rPr lang="en-IN" dirty="0">
                <a:latin typeface="Bahnschrift" panose="020B0502040204020203" pitchFamily="34" charset="0"/>
              </a:rPr>
              <a:t>Input</a:t>
            </a:r>
            <a:r>
              <a:rPr lang="en-IN" b="0" dirty="0">
                <a:effectLst/>
                <a:latin typeface="Bahnschrift" panose="020B0502040204020203" pitchFamily="34" charset="0"/>
              </a:rPr>
              <a:t> Continuous Output) </a:t>
            </a:r>
          </a:p>
          <a:p>
            <a:pPr marL="971550" lvl="1" indent="-514350">
              <a:buFont typeface="+mj-lt"/>
              <a:buAutoNum type="arabicPeriod"/>
            </a:pPr>
            <a:r>
              <a:rPr lang="en-IN" b="0" dirty="0">
                <a:effectLst/>
                <a:latin typeface="Bahnschrift" panose="020B0502040204020203" pitchFamily="34" charset="0"/>
              </a:rPr>
              <a:t>Spearman Correlation Coefficient(Continuous </a:t>
            </a:r>
            <a:r>
              <a:rPr lang="en-IN" dirty="0">
                <a:latin typeface="Bahnschrift" panose="020B0502040204020203" pitchFamily="34" charset="0"/>
              </a:rPr>
              <a:t>Input</a:t>
            </a:r>
            <a:r>
              <a:rPr lang="en-IN" b="0" dirty="0">
                <a:effectLst/>
                <a:latin typeface="Bahnschrift" panose="020B0502040204020203" pitchFamily="34" charset="0"/>
              </a:rPr>
              <a:t> Continuous Output) </a:t>
            </a:r>
          </a:p>
          <a:p>
            <a:pPr marL="971550" lvl="1" indent="-514350">
              <a:buFont typeface="+mj-lt"/>
              <a:buAutoNum type="arabicPeriod"/>
            </a:pPr>
            <a:r>
              <a:rPr lang="en-IN" b="0" dirty="0">
                <a:effectLst/>
                <a:latin typeface="Bahnschrift" panose="020B0502040204020203" pitchFamily="34" charset="0"/>
              </a:rPr>
              <a:t>Kendall Correlation Coefficient(Categorical </a:t>
            </a:r>
            <a:r>
              <a:rPr lang="en-IN" dirty="0">
                <a:latin typeface="Bahnschrift" panose="020B0502040204020203" pitchFamily="34" charset="0"/>
              </a:rPr>
              <a:t>Input</a:t>
            </a:r>
            <a:r>
              <a:rPr lang="en-IN" b="0" dirty="0">
                <a:effectLst/>
                <a:latin typeface="Bahnschrift" panose="020B0502040204020203" pitchFamily="34" charset="0"/>
              </a:rPr>
              <a:t> Continuous Output) </a:t>
            </a:r>
          </a:p>
          <a:p>
            <a:pPr marL="514350" indent="-514350">
              <a:buFont typeface="+mj-lt"/>
              <a:buAutoNum type="arabicPeriod"/>
            </a:pPr>
            <a:r>
              <a:rPr lang="en-IN" b="0" dirty="0">
                <a:effectLst/>
                <a:latin typeface="Bahnschrift" panose="020B0502040204020203" pitchFamily="34" charset="0"/>
              </a:rPr>
              <a:t>Fishers score</a:t>
            </a:r>
          </a:p>
          <a:p>
            <a:pPr marL="514350" indent="-514350">
              <a:buFont typeface="+mj-lt"/>
              <a:buAutoNum type="arabicPeriod"/>
            </a:pPr>
            <a:r>
              <a:rPr lang="en-IN" b="0" dirty="0">
                <a:effectLst/>
                <a:latin typeface="Bahnschrift" panose="020B0502040204020203" pitchFamily="34" charset="0"/>
              </a:rPr>
              <a:t>Variance Inflation Factor</a:t>
            </a:r>
          </a:p>
          <a:p>
            <a:pPr marL="514350" indent="-514350">
              <a:buFont typeface="+mj-lt"/>
              <a:buAutoNum type="arabicPeriod"/>
            </a:pPr>
            <a:r>
              <a:rPr lang="en-IN" b="0" dirty="0">
                <a:effectLst/>
                <a:latin typeface="Bahnschrift" panose="020B0502040204020203" pitchFamily="34" charset="0"/>
              </a:rPr>
              <a:t>Missing Values Ratio</a:t>
            </a:r>
          </a:p>
          <a:p>
            <a:pPr marL="514350" indent="-514350">
              <a:buFont typeface="+mj-lt"/>
              <a:buAutoNum type="arabicPeriod"/>
            </a:pPr>
            <a:r>
              <a:rPr lang="en-IN" b="0" dirty="0">
                <a:effectLst/>
                <a:latin typeface="Bahnschrift" panose="020B0502040204020203" pitchFamily="34" charset="0"/>
              </a:rPr>
              <a:t>Variance Threshold Method</a:t>
            </a:r>
          </a:p>
          <a:p>
            <a:pPr marL="514350" indent="-514350">
              <a:buFont typeface="+mj-lt"/>
              <a:buAutoNum type="arabicPeriod"/>
            </a:pPr>
            <a:r>
              <a:rPr lang="en-IN" b="0" dirty="0">
                <a:effectLst/>
                <a:latin typeface="Bahnschrift" panose="020B0502040204020203" pitchFamily="34" charset="0"/>
              </a:rPr>
              <a:t>Information Gain (Mutual Information)</a:t>
            </a:r>
          </a:p>
          <a:p>
            <a:pPr marL="514350" indent="-514350">
              <a:buFont typeface="+mj-lt"/>
              <a:buAutoNum type="arabicPeriod"/>
            </a:pPr>
            <a:r>
              <a:rPr lang="en-IN" b="0" dirty="0">
                <a:effectLst/>
                <a:latin typeface="Bahnschrift" panose="020B0502040204020203" pitchFamily="34" charset="0"/>
              </a:rPr>
              <a:t>Chi-Square Test</a:t>
            </a:r>
          </a:p>
          <a:p>
            <a:pPr marL="514350" indent="-514350">
              <a:buFont typeface="+mj-lt"/>
              <a:buAutoNum type="arabicPeriod"/>
            </a:pPr>
            <a:r>
              <a:rPr lang="en-IN" b="0" dirty="0">
                <a:effectLst/>
                <a:latin typeface="Bahnschrift" panose="020B0502040204020203" pitchFamily="34" charset="0"/>
              </a:rPr>
              <a:t>ANOVA Test</a:t>
            </a:r>
          </a:p>
          <a:p>
            <a:pPr marL="514350" indent="-514350">
              <a:buFont typeface="+mj-lt"/>
              <a:buAutoNum type="arabicPeriod"/>
            </a:pPr>
            <a:r>
              <a:rPr lang="en-IN" b="0" dirty="0">
                <a:effectLst/>
                <a:latin typeface="Bahnschrift" panose="020B0502040204020203" pitchFamily="34" charset="0"/>
              </a:rPr>
              <a:t>Mean Absolute Difference</a:t>
            </a:r>
          </a:p>
          <a:p>
            <a:endParaRPr lang="en-IN" dirty="0">
              <a:latin typeface="Bahnschrift" panose="020B0502040204020203" pitchFamily="34" charset="0"/>
            </a:endParaRPr>
          </a:p>
        </p:txBody>
      </p:sp>
    </p:spTree>
    <p:extLst>
      <p:ext uri="{BB962C8B-B14F-4D97-AF65-F5344CB8AC3E}">
        <p14:creationId xmlns:p14="http://schemas.microsoft.com/office/powerpoint/2010/main" val="2249979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500"/>
                                        <p:tgtEl>
                                          <p:spTgt spid="3">
                                            <p:txEl>
                                              <p:pRg st="9" end="9"/>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Effect transition="in" filter="fade">
                                      <p:cBhvr>
                                        <p:cTn id="51" dur="500"/>
                                        <p:tgtEl>
                                          <p:spTgt spid="3">
                                            <p:txEl>
                                              <p:pRg st="10" end="1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
                                            <p:txEl>
                                              <p:pRg st="11" end="11"/>
                                            </p:txEl>
                                          </p:spTgt>
                                        </p:tgtEl>
                                        <p:attrNameLst>
                                          <p:attrName>style.visibility</p:attrName>
                                        </p:attrNameLst>
                                      </p:cBhvr>
                                      <p:to>
                                        <p:strVal val="visible"/>
                                      </p:to>
                                    </p:set>
                                    <p:animEffect transition="in" filter="fade">
                                      <p:cBhvr>
                                        <p:cTn id="5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DF10ADB-C2B2-24B9-E166-C370A74926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513" y="516400"/>
            <a:ext cx="11158973" cy="5825199"/>
          </a:xfrm>
          <a:prstGeom prst="rect">
            <a:avLst/>
          </a:prstGeom>
        </p:spPr>
      </p:pic>
    </p:spTree>
    <p:extLst>
      <p:ext uri="{BB962C8B-B14F-4D97-AF65-F5344CB8AC3E}">
        <p14:creationId xmlns:p14="http://schemas.microsoft.com/office/powerpoint/2010/main" val="744191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C2EB6-A301-33B2-D720-50C5D50C3EC5}"/>
              </a:ext>
            </a:extLst>
          </p:cNvPr>
          <p:cNvSpPr>
            <a:spLocks noGrp="1"/>
          </p:cNvSpPr>
          <p:nvPr>
            <p:ph type="title"/>
          </p:nvPr>
        </p:nvSpPr>
        <p:spPr/>
        <p:txBody>
          <a:bodyPr/>
          <a:lstStyle/>
          <a:p>
            <a:r>
              <a:rPr lang="en-US" dirty="0"/>
              <a:t>Wrapper Method </a:t>
            </a:r>
            <a:r>
              <a:rPr lang="en-US" sz="4000" dirty="0"/>
              <a:t>(After Model Training)</a:t>
            </a:r>
            <a:endParaRPr lang="en-IN" dirty="0"/>
          </a:p>
        </p:txBody>
      </p:sp>
      <p:sp>
        <p:nvSpPr>
          <p:cNvPr id="3" name="Content Placeholder 2">
            <a:extLst>
              <a:ext uri="{FF2B5EF4-FFF2-40B4-BE49-F238E27FC236}">
                <a16:creationId xmlns:a16="http://schemas.microsoft.com/office/drawing/2014/main" id="{F05BCF04-83D4-EED6-57D5-425625F3253A}"/>
              </a:ext>
            </a:extLst>
          </p:cNvPr>
          <p:cNvSpPr>
            <a:spLocks noGrp="1"/>
          </p:cNvSpPr>
          <p:nvPr>
            <p:ph idx="1"/>
          </p:nvPr>
        </p:nvSpPr>
        <p:spPr/>
        <p:txBody>
          <a:bodyPr>
            <a:normAutofit fontScale="70000" lnSpcReduction="20000"/>
          </a:bodyPr>
          <a:lstStyle/>
          <a:p>
            <a:pPr algn="l"/>
            <a:r>
              <a:rPr lang="en-US" b="0" i="0" dirty="0">
                <a:solidFill>
                  <a:srgbClr val="374151"/>
                </a:solidFill>
                <a:effectLst/>
                <a:latin typeface="Söhne"/>
              </a:rPr>
              <a:t>The idea behind wrapper methods is to use a subset of features to train a model and evaluate its performance. This process is repeated multiple times, with different subsets of features, until the best subset of features is found. This iterative process is computationally expensive and requires training multiple models, which is why wrapper methods are typically used after model training.</a:t>
            </a:r>
          </a:p>
          <a:p>
            <a:pPr algn="l"/>
            <a:r>
              <a:rPr lang="en-US" b="0" i="0" dirty="0">
                <a:solidFill>
                  <a:srgbClr val="374151"/>
                </a:solidFill>
                <a:effectLst/>
                <a:latin typeface="Söhne"/>
              </a:rPr>
              <a:t>After the model is trained, wrapper methods can be used to evaluate different subsets of features and select the best one. The selected subset of features can then be used to train a final model, which is evaluated on a test set to estimate its performance on new, unseen data.</a:t>
            </a:r>
          </a:p>
          <a:p>
            <a:pPr algn="l"/>
            <a:r>
              <a:rPr lang="en-US" b="0" i="0" dirty="0">
                <a:solidFill>
                  <a:srgbClr val="374151"/>
                </a:solidFill>
                <a:effectLst/>
                <a:latin typeface="Söhne"/>
              </a:rPr>
              <a:t>Wrapper methods are more computationally expensive than filter methods but can lead to better performance by selecting the most informative subset of features for a specific model. However, wrapper methods are more prone to overfitting and may not work well on datasets with a large number of input features.</a:t>
            </a:r>
          </a:p>
          <a:p>
            <a:pPr algn="l"/>
            <a:r>
              <a:rPr lang="en-US" b="0" i="0" dirty="0">
                <a:solidFill>
                  <a:srgbClr val="374151"/>
                </a:solidFill>
                <a:effectLst/>
                <a:latin typeface="Söhne"/>
              </a:rPr>
              <a:t>In summary, wrapper methods are used during or after model training to select the best subset of features for a specific model. Wrapper methods are computationally expensive but can lead to better performance by selecting the most informative subset of features for the model.</a:t>
            </a:r>
          </a:p>
        </p:txBody>
      </p:sp>
      <p:sp>
        <p:nvSpPr>
          <p:cNvPr id="6" name="TextBox 5">
            <a:extLst>
              <a:ext uri="{FF2B5EF4-FFF2-40B4-BE49-F238E27FC236}">
                <a16:creationId xmlns:a16="http://schemas.microsoft.com/office/drawing/2014/main" id="{C0BF431F-5936-7185-A14A-AB27ECB69B5A}"/>
              </a:ext>
            </a:extLst>
          </p:cNvPr>
          <p:cNvSpPr txBox="1"/>
          <p:nvPr/>
        </p:nvSpPr>
        <p:spPr>
          <a:xfrm>
            <a:off x="9537021" y="6176963"/>
            <a:ext cx="1816779" cy="369332"/>
          </a:xfrm>
          <a:prstGeom prst="rect">
            <a:avLst/>
          </a:prstGeom>
          <a:noFill/>
        </p:spPr>
        <p:txBody>
          <a:bodyPr wrap="none" rtlCol="0">
            <a:spAutoFit/>
          </a:bodyPr>
          <a:lstStyle/>
          <a:p>
            <a:r>
              <a:rPr lang="en-IN" dirty="0"/>
              <a:t>Credits : </a:t>
            </a:r>
            <a:r>
              <a:rPr lang="en-IN" dirty="0" err="1"/>
              <a:t>ChatGPT</a:t>
            </a:r>
            <a:endParaRPr lang="en-IN" dirty="0"/>
          </a:p>
        </p:txBody>
      </p:sp>
    </p:spTree>
    <p:extLst>
      <p:ext uri="{BB962C8B-B14F-4D97-AF65-F5344CB8AC3E}">
        <p14:creationId xmlns:p14="http://schemas.microsoft.com/office/powerpoint/2010/main" val="3244738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C2EB6-A301-33B2-D720-50C5D50C3EC5}"/>
              </a:ext>
            </a:extLst>
          </p:cNvPr>
          <p:cNvSpPr>
            <a:spLocks noGrp="1"/>
          </p:cNvSpPr>
          <p:nvPr>
            <p:ph type="title"/>
          </p:nvPr>
        </p:nvSpPr>
        <p:spPr/>
        <p:txBody>
          <a:bodyPr/>
          <a:lstStyle/>
          <a:p>
            <a:r>
              <a:rPr lang="en-US" dirty="0"/>
              <a:t>Wrapper Method </a:t>
            </a:r>
            <a:r>
              <a:rPr lang="en-US" sz="4000" dirty="0"/>
              <a:t>(After Model Training)</a:t>
            </a:r>
            <a:endParaRPr lang="en-IN" dirty="0"/>
          </a:p>
        </p:txBody>
      </p:sp>
      <p:sp>
        <p:nvSpPr>
          <p:cNvPr id="3" name="Content Placeholder 2">
            <a:extLst>
              <a:ext uri="{FF2B5EF4-FFF2-40B4-BE49-F238E27FC236}">
                <a16:creationId xmlns:a16="http://schemas.microsoft.com/office/drawing/2014/main" id="{F05BCF04-83D4-EED6-57D5-425625F3253A}"/>
              </a:ext>
            </a:extLst>
          </p:cNvPr>
          <p:cNvSpPr>
            <a:spLocks noGrp="1"/>
          </p:cNvSpPr>
          <p:nvPr>
            <p:ph idx="1"/>
          </p:nvPr>
        </p:nvSpPr>
        <p:spPr/>
        <p:txBody>
          <a:bodyPr/>
          <a:lstStyle/>
          <a:p>
            <a:pPr marL="514350" indent="-514350">
              <a:buFont typeface="+mj-lt"/>
              <a:buAutoNum type="arabicPeriod"/>
            </a:pPr>
            <a:r>
              <a:rPr lang="en-US" b="0" dirty="0">
                <a:effectLst/>
                <a:latin typeface="Bahnschrift" panose="020B0502040204020203" pitchFamily="34" charset="0"/>
              </a:rPr>
              <a:t>Forward Feature Selection</a:t>
            </a:r>
          </a:p>
          <a:p>
            <a:pPr marL="514350" indent="-514350">
              <a:buFont typeface="+mj-lt"/>
              <a:buAutoNum type="arabicPeriod"/>
            </a:pPr>
            <a:r>
              <a:rPr lang="en-US" b="0" dirty="0">
                <a:effectLst/>
                <a:latin typeface="Bahnschrift" panose="020B0502040204020203" pitchFamily="34" charset="0"/>
              </a:rPr>
              <a:t>Backward Feature Elimination</a:t>
            </a:r>
          </a:p>
          <a:p>
            <a:pPr marL="514350" indent="-514350">
              <a:buFont typeface="+mj-lt"/>
              <a:buAutoNum type="arabicPeriod"/>
            </a:pPr>
            <a:r>
              <a:rPr lang="en-US" b="0" dirty="0">
                <a:effectLst/>
                <a:latin typeface="Bahnschrift" panose="020B0502040204020203" pitchFamily="34" charset="0"/>
              </a:rPr>
              <a:t>Exhaustive Feature Selection</a:t>
            </a:r>
          </a:p>
          <a:p>
            <a:pPr marL="514350" indent="-514350">
              <a:buFont typeface="+mj-lt"/>
              <a:buAutoNum type="arabicPeriod"/>
            </a:pPr>
            <a:r>
              <a:rPr lang="en-US" b="0" dirty="0">
                <a:effectLst/>
                <a:latin typeface="Bahnschrift" panose="020B0502040204020203" pitchFamily="34" charset="0"/>
              </a:rPr>
              <a:t>Recursive Feature Elimination</a:t>
            </a:r>
          </a:p>
          <a:p>
            <a:pPr marL="514350" indent="-514350">
              <a:buFont typeface="+mj-lt"/>
              <a:buAutoNum type="arabicPeriod"/>
            </a:pPr>
            <a:r>
              <a:rPr lang="en-US" b="0" dirty="0">
                <a:effectLst/>
                <a:latin typeface="Bahnschrift" panose="020B0502040204020203" pitchFamily="34" charset="0"/>
              </a:rPr>
              <a:t>Bi-Directional Feature Selection</a:t>
            </a:r>
          </a:p>
          <a:p>
            <a:endParaRPr lang="en-IN" dirty="0"/>
          </a:p>
        </p:txBody>
      </p:sp>
    </p:spTree>
    <p:extLst>
      <p:ext uri="{BB962C8B-B14F-4D97-AF65-F5344CB8AC3E}">
        <p14:creationId xmlns:p14="http://schemas.microsoft.com/office/powerpoint/2010/main" val="271958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87D77-5CC0-1CA7-22E7-01F933C964F1}"/>
              </a:ext>
            </a:extLst>
          </p:cNvPr>
          <p:cNvSpPr>
            <a:spLocks noGrp="1"/>
          </p:cNvSpPr>
          <p:nvPr>
            <p:ph type="title"/>
          </p:nvPr>
        </p:nvSpPr>
        <p:spPr/>
        <p:txBody>
          <a:bodyPr/>
          <a:lstStyle/>
          <a:p>
            <a:r>
              <a:rPr lang="en-US" dirty="0"/>
              <a:t>Embedded Methods (During Model Training)</a:t>
            </a:r>
            <a:endParaRPr lang="en-IN" dirty="0"/>
          </a:p>
        </p:txBody>
      </p:sp>
      <p:sp>
        <p:nvSpPr>
          <p:cNvPr id="3" name="Content Placeholder 2">
            <a:extLst>
              <a:ext uri="{FF2B5EF4-FFF2-40B4-BE49-F238E27FC236}">
                <a16:creationId xmlns:a16="http://schemas.microsoft.com/office/drawing/2014/main" id="{0247633A-AE6E-936B-29AC-AB2FD8B1A54F}"/>
              </a:ext>
            </a:extLst>
          </p:cNvPr>
          <p:cNvSpPr>
            <a:spLocks noGrp="1"/>
          </p:cNvSpPr>
          <p:nvPr>
            <p:ph idx="1"/>
          </p:nvPr>
        </p:nvSpPr>
        <p:spPr/>
        <p:txBody>
          <a:bodyPr>
            <a:normAutofit fontScale="92500" lnSpcReduction="10000"/>
          </a:bodyPr>
          <a:lstStyle/>
          <a:p>
            <a:pPr marL="514350" indent="-514350">
              <a:buFont typeface="+mj-lt"/>
              <a:buAutoNum type="arabicPeriod"/>
            </a:pPr>
            <a:r>
              <a:rPr lang="en-US" b="0" dirty="0">
                <a:effectLst/>
                <a:latin typeface="Bahnschrift" panose="020B0502040204020203" pitchFamily="34" charset="0"/>
              </a:rPr>
              <a:t>Regularization:</a:t>
            </a:r>
          </a:p>
          <a:p>
            <a:pPr marL="971550" lvl="1" indent="-514350">
              <a:buFont typeface="+mj-lt"/>
              <a:buAutoNum type="arabicPeriod"/>
            </a:pPr>
            <a:r>
              <a:rPr lang="en-US" b="0" dirty="0">
                <a:effectLst/>
                <a:latin typeface="Bahnschrift" panose="020B0502040204020203" pitchFamily="34" charset="0"/>
              </a:rPr>
              <a:t>Lasso Regression(L1 Regularization)</a:t>
            </a:r>
          </a:p>
          <a:p>
            <a:pPr marL="971550" lvl="1" indent="-514350">
              <a:buFont typeface="+mj-lt"/>
              <a:buAutoNum type="arabicPeriod"/>
            </a:pPr>
            <a:r>
              <a:rPr lang="en-US" b="0" dirty="0">
                <a:effectLst/>
                <a:latin typeface="Bahnschrift" panose="020B0502040204020203" pitchFamily="34" charset="0"/>
              </a:rPr>
              <a:t>Ridge Regularization (L2 Regularization)</a:t>
            </a:r>
          </a:p>
          <a:p>
            <a:pPr marL="514350" indent="-514350">
              <a:buFont typeface="+mj-lt"/>
              <a:buAutoNum type="arabicPeriod"/>
            </a:pPr>
            <a:r>
              <a:rPr lang="en-US" b="0" dirty="0">
                <a:effectLst/>
                <a:latin typeface="Bahnschrift" panose="020B0502040204020203" pitchFamily="34" charset="0"/>
              </a:rPr>
              <a:t>Tree based model Feature Importance:</a:t>
            </a:r>
          </a:p>
          <a:p>
            <a:pPr marL="514350" indent="-514350">
              <a:buFont typeface="+mj-lt"/>
              <a:buAutoNum type="arabicPeriod"/>
            </a:pPr>
            <a:r>
              <a:rPr lang="en-US" b="0" dirty="0">
                <a:effectLst/>
                <a:latin typeface="Bahnschrift" panose="020B0502040204020203" pitchFamily="34" charset="0"/>
              </a:rPr>
              <a:t>Decision Tree Feature Importance</a:t>
            </a:r>
          </a:p>
          <a:p>
            <a:pPr marL="514350" indent="-514350">
              <a:buFont typeface="+mj-lt"/>
              <a:buAutoNum type="arabicPeriod"/>
            </a:pPr>
            <a:r>
              <a:rPr lang="en-US" b="0" dirty="0">
                <a:effectLst/>
                <a:latin typeface="Bahnschrift" panose="020B0502040204020203" pitchFamily="34" charset="0"/>
              </a:rPr>
              <a:t>Random Forest Feature Importance</a:t>
            </a:r>
          </a:p>
          <a:p>
            <a:pPr marL="514350" indent="-514350">
              <a:buFont typeface="+mj-lt"/>
              <a:buAutoNum type="arabicPeriod"/>
            </a:pPr>
            <a:r>
              <a:rPr lang="en-US" b="0" dirty="0">
                <a:effectLst/>
                <a:latin typeface="Bahnschrift" panose="020B0502040204020203" pitchFamily="34" charset="0"/>
              </a:rPr>
              <a:t>AdaBoost Feature Importance</a:t>
            </a:r>
          </a:p>
          <a:p>
            <a:pPr marL="514350" indent="-514350">
              <a:buFont typeface="+mj-lt"/>
              <a:buAutoNum type="arabicPeriod"/>
            </a:pPr>
            <a:r>
              <a:rPr lang="en-US" b="0" dirty="0">
                <a:effectLst/>
                <a:latin typeface="Bahnschrift" panose="020B0502040204020203" pitchFamily="34" charset="0"/>
              </a:rPr>
              <a:t>Gradient Boost Feature Importance</a:t>
            </a:r>
          </a:p>
          <a:p>
            <a:pPr marL="514350" indent="-514350">
              <a:buFont typeface="+mj-lt"/>
              <a:buAutoNum type="arabicPeriod"/>
            </a:pPr>
            <a:r>
              <a:rPr lang="en-US" b="0" dirty="0">
                <a:effectLst/>
                <a:latin typeface="Bahnschrift" panose="020B0502040204020203" pitchFamily="34" charset="0"/>
              </a:rPr>
              <a:t>Extreme Gradient Boost Feature Importance</a:t>
            </a:r>
          </a:p>
          <a:p>
            <a:pPr marL="514350" indent="-514350">
              <a:buFont typeface="+mj-lt"/>
              <a:buAutoNum type="arabicPeriod"/>
            </a:pPr>
            <a:r>
              <a:rPr lang="en-US" b="0" dirty="0" err="1">
                <a:effectLst/>
                <a:latin typeface="Bahnschrift" panose="020B0502040204020203" pitchFamily="34" charset="0"/>
              </a:rPr>
              <a:t>CatBoost</a:t>
            </a:r>
            <a:r>
              <a:rPr lang="en-US" b="0" dirty="0">
                <a:effectLst/>
                <a:latin typeface="Bahnschrift" panose="020B0502040204020203" pitchFamily="34" charset="0"/>
              </a:rPr>
              <a:t> Feature Importance</a:t>
            </a:r>
          </a:p>
          <a:p>
            <a:endParaRPr lang="en-IN" dirty="0">
              <a:latin typeface="Bahnschrift" panose="020B0502040204020203" pitchFamily="34" charset="0"/>
            </a:endParaRPr>
          </a:p>
        </p:txBody>
      </p:sp>
    </p:spTree>
    <p:extLst>
      <p:ext uri="{BB962C8B-B14F-4D97-AF65-F5344CB8AC3E}">
        <p14:creationId xmlns:p14="http://schemas.microsoft.com/office/powerpoint/2010/main" val="1079142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87D77-5CC0-1CA7-22E7-01F933C964F1}"/>
              </a:ext>
            </a:extLst>
          </p:cNvPr>
          <p:cNvSpPr>
            <a:spLocks noGrp="1"/>
          </p:cNvSpPr>
          <p:nvPr>
            <p:ph type="title"/>
          </p:nvPr>
        </p:nvSpPr>
        <p:spPr/>
        <p:txBody>
          <a:bodyPr/>
          <a:lstStyle/>
          <a:p>
            <a:r>
              <a:rPr lang="en-US" dirty="0"/>
              <a:t>Embedded Methods (During Model Training)</a:t>
            </a:r>
            <a:endParaRPr lang="en-IN" dirty="0"/>
          </a:p>
        </p:txBody>
      </p:sp>
      <p:sp>
        <p:nvSpPr>
          <p:cNvPr id="3" name="Content Placeholder 2">
            <a:extLst>
              <a:ext uri="{FF2B5EF4-FFF2-40B4-BE49-F238E27FC236}">
                <a16:creationId xmlns:a16="http://schemas.microsoft.com/office/drawing/2014/main" id="{0247633A-AE6E-936B-29AC-AB2FD8B1A54F}"/>
              </a:ext>
            </a:extLst>
          </p:cNvPr>
          <p:cNvSpPr>
            <a:spLocks noGrp="1"/>
          </p:cNvSpPr>
          <p:nvPr>
            <p:ph idx="1"/>
          </p:nvPr>
        </p:nvSpPr>
        <p:spPr/>
        <p:txBody>
          <a:bodyPr>
            <a:normAutofit fontScale="70000" lnSpcReduction="20000"/>
          </a:bodyPr>
          <a:lstStyle/>
          <a:p>
            <a:pPr algn="l"/>
            <a:r>
              <a:rPr lang="en-IN" dirty="0">
                <a:latin typeface="Bahnschrift" panose="020B0502040204020203" pitchFamily="34" charset="0"/>
              </a:rPr>
              <a:t> </a:t>
            </a:r>
            <a:r>
              <a:rPr lang="en-US" b="0" i="0" dirty="0">
                <a:solidFill>
                  <a:srgbClr val="374151"/>
                </a:solidFill>
                <a:effectLst/>
                <a:latin typeface="Söhne"/>
              </a:rPr>
              <a:t>The idea behind embedded methods is to integrate feature selection with the model training process. The feature selection is done by using regularization techniques, such as Lasso or Ridge regression, which penalize the coefficients of irrelevant or redundant features.</a:t>
            </a:r>
          </a:p>
          <a:p>
            <a:pPr algn="l"/>
            <a:r>
              <a:rPr lang="en-US" b="0" i="0" dirty="0">
                <a:solidFill>
                  <a:srgbClr val="374151"/>
                </a:solidFill>
                <a:effectLst/>
                <a:latin typeface="Söhne"/>
              </a:rPr>
              <a:t>Embedded methods are used during model training because the feature selection process is integrated with the optimization of the model parameters. This allows the model to select the most informative features for the specific task and reduce the risk of overfitting.</a:t>
            </a:r>
          </a:p>
          <a:p>
            <a:pPr algn="l"/>
            <a:r>
              <a:rPr lang="en-US" b="0" i="0" dirty="0">
                <a:solidFill>
                  <a:srgbClr val="374151"/>
                </a:solidFill>
                <a:effectLst/>
                <a:latin typeface="Söhne"/>
              </a:rPr>
              <a:t>Embedded methods can be used with various machine learning models, such as linear regression, logistic regression, and support vector machines (SVMs). These models are trained with the selected subset of features, and the regularization penalty helps to avoid overfitting and improve the model's performance.</a:t>
            </a:r>
          </a:p>
          <a:p>
            <a:pPr algn="l"/>
            <a:r>
              <a:rPr lang="en-US" b="0" i="0" dirty="0">
                <a:solidFill>
                  <a:srgbClr val="374151"/>
                </a:solidFill>
                <a:effectLst/>
                <a:latin typeface="Söhne"/>
              </a:rPr>
              <a:t>In summary, embedded methods are used during model training to integrate feature selection with the optimization of model parameters. The regularization penalty helps to avoid overfitting and improve the model's performance. Embedded methods are a good choice when there are many input features and the goal is to select the most informative features for a specific task.</a:t>
            </a:r>
          </a:p>
        </p:txBody>
      </p:sp>
      <p:sp>
        <p:nvSpPr>
          <p:cNvPr id="4" name="TextBox 3">
            <a:extLst>
              <a:ext uri="{FF2B5EF4-FFF2-40B4-BE49-F238E27FC236}">
                <a16:creationId xmlns:a16="http://schemas.microsoft.com/office/drawing/2014/main" id="{F466D9B2-C4C9-CA26-1F55-B5404724BCAF}"/>
              </a:ext>
            </a:extLst>
          </p:cNvPr>
          <p:cNvSpPr txBox="1"/>
          <p:nvPr/>
        </p:nvSpPr>
        <p:spPr>
          <a:xfrm>
            <a:off x="9537021" y="6176963"/>
            <a:ext cx="1816779" cy="369332"/>
          </a:xfrm>
          <a:prstGeom prst="rect">
            <a:avLst/>
          </a:prstGeom>
          <a:noFill/>
        </p:spPr>
        <p:txBody>
          <a:bodyPr wrap="none" rtlCol="0">
            <a:spAutoFit/>
          </a:bodyPr>
          <a:lstStyle/>
          <a:p>
            <a:r>
              <a:rPr lang="en-IN" dirty="0"/>
              <a:t>Credits : </a:t>
            </a:r>
            <a:r>
              <a:rPr lang="en-IN" dirty="0" err="1"/>
              <a:t>ChatGPT</a:t>
            </a:r>
            <a:endParaRPr lang="en-IN" dirty="0"/>
          </a:p>
        </p:txBody>
      </p:sp>
    </p:spTree>
    <p:extLst>
      <p:ext uri="{BB962C8B-B14F-4D97-AF65-F5344CB8AC3E}">
        <p14:creationId xmlns:p14="http://schemas.microsoft.com/office/powerpoint/2010/main" val="1175751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A86B4-4DD7-E46D-4E74-A1D9A8DC1C3D}"/>
              </a:ext>
            </a:extLst>
          </p:cNvPr>
          <p:cNvSpPr>
            <a:spLocks noGrp="1"/>
          </p:cNvSpPr>
          <p:nvPr>
            <p:ph type="title"/>
          </p:nvPr>
        </p:nvSpPr>
        <p:spPr/>
        <p:txBody>
          <a:bodyPr/>
          <a:lstStyle/>
          <a:p>
            <a:r>
              <a:rPr lang="en-US" dirty="0"/>
              <a:t>Feature Extraction Technique</a:t>
            </a:r>
            <a:endParaRPr lang="en-IN" dirty="0"/>
          </a:p>
        </p:txBody>
      </p:sp>
      <p:sp>
        <p:nvSpPr>
          <p:cNvPr id="3" name="Content Placeholder 2">
            <a:extLst>
              <a:ext uri="{FF2B5EF4-FFF2-40B4-BE49-F238E27FC236}">
                <a16:creationId xmlns:a16="http://schemas.microsoft.com/office/drawing/2014/main" id="{AF47C8E8-1470-4951-D352-A86320D752C8}"/>
              </a:ext>
            </a:extLst>
          </p:cNvPr>
          <p:cNvSpPr>
            <a:spLocks noGrp="1"/>
          </p:cNvSpPr>
          <p:nvPr>
            <p:ph idx="1"/>
          </p:nvPr>
        </p:nvSpPr>
        <p:spPr/>
        <p:txBody>
          <a:bodyPr/>
          <a:lstStyle/>
          <a:p>
            <a:pPr marL="514350" indent="-514350">
              <a:buFont typeface="+mj-lt"/>
              <a:buAutoNum type="arabicPeriod"/>
            </a:pPr>
            <a:r>
              <a:rPr lang="en-IN" b="0" dirty="0">
                <a:solidFill>
                  <a:srgbClr val="000000"/>
                </a:solidFill>
                <a:effectLst/>
                <a:latin typeface="Bahnschrift" panose="020B0502040204020203" pitchFamily="34" charset="0"/>
              </a:rPr>
              <a:t>Principal Component Analysis(PCA)</a:t>
            </a:r>
          </a:p>
          <a:p>
            <a:pPr marL="514350" indent="-514350">
              <a:buFont typeface="+mj-lt"/>
              <a:buAutoNum type="arabicPeriod"/>
            </a:pPr>
            <a:r>
              <a:rPr lang="en-IN" b="0" dirty="0">
                <a:solidFill>
                  <a:srgbClr val="000000"/>
                </a:solidFill>
                <a:effectLst/>
                <a:latin typeface="Bahnschrift" panose="020B0502040204020203" pitchFamily="34" charset="0"/>
              </a:rPr>
              <a:t>Linear Discriminant Analysis(LDA)</a:t>
            </a:r>
          </a:p>
        </p:txBody>
      </p:sp>
    </p:spTree>
    <p:extLst>
      <p:ext uri="{BB962C8B-B14F-4D97-AF65-F5344CB8AC3E}">
        <p14:creationId xmlns:p14="http://schemas.microsoft.com/office/powerpoint/2010/main" val="216118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E7B3F-B1BB-4E2C-96C1-73F83396EB73}"/>
              </a:ext>
            </a:extLst>
          </p:cNvPr>
          <p:cNvSpPr>
            <a:spLocks noGrp="1"/>
          </p:cNvSpPr>
          <p:nvPr>
            <p:ph type="title"/>
          </p:nvPr>
        </p:nvSpPr>
        <p:spPr/>
        <p:txBody>
          <a:bodyPr/>
          <a:lstStyle/>
          <a:p>
            <a:r>
              <a:rPr lang="en-IN" dirty="0"/>
              <a:t>Principle Component Analysis</a:t>
            </a:r>
          </a:p>
        </p:txBody>
      </p:sp>
      <p:sp>
        <p:nvSpPr>
          <p:cNvPr id="3" name="Content Placeholder 2">
            <a:extLst>
              <a:ext uri="{FF2B5EF4-FFF2-40B4-BE49-F238E27FC236}">
                <a16:creationId xmlns:a16="http://schemas.microsoft.com/office/drawing/2014/main" id="{69C888E6-E25C-B414-E0B7-49E61CE92913}"/>
              </a:ext>
            </a:extLst>
          </p:cNvPr>
          <p:cNvSpPr>
            <a:spLocks noGrp="1"/>
          </p:cNvSpPr>
          <p:nvPr>
            <p:ph idx="1"/>
          </p:nvPr>
        </p:nvSpPr>
        <p:spPr/>
        <p:txBody>
          <a:bodyPr/>
          <a:lstStyle/>
          <a:p>
            <a:r>
              <a:rPr lang="en-US" b="0" i="0" dirty="0">
                <a:solidFill>
                  <a:srgbClr val="374151"/>
                </a:solidFill>
                <a:effectLst/>
                <a:latin typeface="Söhne"/>
              </a:rPr>
              <a:t>PCA is different from feature selection techniques like filter, wrapper, or embedded methods. While feature selection techniques select a subset of the original features, PCA creates new features that are linear combinations of the original features.</a:t>
            </a:r>
            <a:endParaRPr lang="en-IN" dirty="0"/>
          </a:p>
        </p:txBody>
      </p:sp>
    </p:spTree>
    <p:extLst>
      <p:ext uri="{BB962C8B-B14F-4D97-AF65-F5344CB8AC3E}">
        <p14:creationId xmlns:p14="http://schemas.microsoft.com/office/powerpoint/2010/main" val="2859056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5C195-4135-3EA5-D6DB-ADBE71F5303B}"/>
              </a:ext>
            </a:extLst>
          </p:cNvPr>
          <p:cNvSpPr>
            <a:spLocks noGrp="1"/>
          </p:cNvSpPr>
          <p:nvPr>
            <p:ph type="title"/>
          </p:nvPr>
        </p:nvSpPr>
        <p:spPr/>
        <p:txBody>
          <a:bodyPr/>
          <a:lstStyle/>
          <a:p>
            <a:r>
              <a:rPr lang="en-US" dirty="0"/>
              <a:t>Blog to Visit</a:t>
            </a:r>
            <a:endParaRPr lang="en-IN" dirty="0"/>
          </a:p>
        </p:txBody>
      </p:sp>
      <p:sp>
        <p:nvSpPr>
          <p:cNvPr id="3" name="Content Placeholder 2">
            <a:extLst>
              <a:ext uri="{FF2B5EF4-FFF2-40B4-BE49-F238E27FC236}">
                <a16:creationId xmlns:a16="http://schemas.microsoft.com/office/drawing/2014/main" id="{4A381AD0-B30B-7216-8864-6DDAE9870AA9}"/>
              </a:ext>
            </a:extLst>
          </p:cNvPr>
          <p:cNvSpPr>
            <a:spLocks noGrp="1"/>
          </p:cNvSpPr>
          <p:nvPr>
            <p:ph idx="1"/>
          </p:nvPr>
        </p:nvSpPr>
        <p:spPr>
          <a:xfrm>
            <a:off x="838200" y="1825625"/>
            <a:ext cx="10515600" cy="470535"/>
          </a:xfrm>
        </p:spPr>
        <p:txBody>
          <a:bodyPr>
            <a:normAutofit lnSpcReduction="10000"/>
          </a:bodyPr>
          <a:lstStyle/>
          <a:p>
            <a:pPr marL="0" indent="0">
              <a:buNone/>
            </a:pPr>
            <a:r>
              <a:rPr lang="en-US" dirty="0"/>
              <a:t>Machine Learning Mastery</a:t>
            </a:r>
            <a:endParaRPr lang="en-IN" dirty="0"/>
          </a:p>
        </p:txBody>
      </p:sp>
      <p:sp>
        <p:nvSpPr>
          <p:cNvPr id="4" name="TextBox 3">
            <a:extLst>
              <a:ext uri="{FF2B5EF4-FFF2-40B4-BE49-F238E27FC236}">
                <a16:creationId xmlns:a16="http://schemas.microsoft.com/office/drawing/2014/main" id="{F401D211-8294-432A-3418-326C137DD48A}"/>
              </a:ext>
            </a:extLst>
          </p:cNvPr>
          <p:cNvSpPr txBox="1"/>
          <p:nvPr/>
        </p:nvSpPr>
        <p:spPr>
          <a:xfrm>
            <a:off x="838200" y="2365454"/>
            <a:ext cx="3413760" cy="369332"/>
          </a:xfrm>
          <a:prstGeom prst="rect">
            <a:avLst/>
          </a:prstGeom>
          <a:noFill/>
        </p:spPr>
        <p:txBody>
          <a:bodyPr wrap="square" rtlCol="0">
            <a:spAutoFit/>
          </a:bodyPr>
          <a:lstStyle/>
          <a:p>
            <a:r>
              <a:rPr lang="en-US" b="1" dirty="0">
                <a:latin typeface="Bahnschrift" panose="020B0502040204020203" pitchFamily="34" charset="0"/>
                <a:hlinkClick r:id="rId2"/>
              </a:rPr>
              <a:t>CLICK HERE TO VISIT</a:t>
            </a:r>
            <a:endParaRPr lang="en-IN" b="1" dirty="0">
              <a:latin typeface="Bahnschrift" panose="020B0502040204020203" pitchFamily="34" charset="0"/>
            </a:endParaRPr>
          </a:p>
        </p:txBody>
      </p:sp>
      <p:sp>
        <p:nvSpPr>
          <p:cNvPr id="5" name="TextBox 4">
            <a:extLst>
              <a:ext uri="{FF2B5EF4-FFF2-40B4-BE49-F238E27FC236}">
                <a16:creationId xmlns:a16="http://schemas.microsoft.com/office/drawing/2014/main" id="{BA605B60-7378-195B-908F-A5D69FB96BB6}"/>
              </a:ext>
            </a:extLst>
          </p:cNvPr>
          <p:cNvSpPr txBox="1"/>
          <p:nvPr/>
        </p:nvSpPr>
        <p:spPr>
          <a:xfrm>
            <a:off x="838200" y="3007360"/>
            <a:ext cx="10358120" cy="646331"/>
          </a:xfrm>
          <a:prstGeom prst="rect">
            <a:avLst/>
          </a:prstGeom>
          <a:noFill/>
        </p:spPr>
        <p:txBody>
          <a:bodyPr wrap="square" rtlCol="0">
            <a:spAutoFit/>
          </a:bodyPr>
          <a:lstStyle/>
          <a:p>
            <a:r>
              <a:rPr lang="en-US" dirty="0"/>
              <a:t>Or copy Paste the link below</a:t>
            </a:r>
          </a:p>
          <a:p>
            <a:r>
              <a:rPr lang="en-IN" dirty="0"/>
              <a:t>https://machinelearningmastery.com/feature-selection-with-real-and-categorical-data/</a:t>
            </a:r>
          </a:p>
        </p:txBody>
      </p:sp>
    </p:spTree>
    <p:extLst>
      <p:ext uri="{BB962C8B-B14F-4D97-AF65-F5344CB8AC3E}">
        <p14:creationId xmlns:p14="http://schemas.microsoft.com/office/powerpoint/2010/main" val="30135657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348</TotalTime>
  <Words>948</Words>
  <Application>Microsoft Office PowerPoint</Application>
  <PresentationFormat>Widescreen</PresentationFormat>
  <Paragraphs>72</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Bahnschrift</vt:lpstr>
      <vt:lpstr>Calibri</vt:lpstr>
      <vt:lpstr>Calibri Light</vt:lpstr>
      <vt:lpstr>Söhne</vt:lpstr>
      <vt:lpstr>Office Theme</vt:lpstr>
      <vt:lpstr>Feature Selection</vt:lpstr>
      <vt:lpstr>PowerPoint Presentation</vt:lpstr>
      <vt:lpstr>Feature Selection</vt:lpstr>
      <vt:lpstr>Benefits of Feature Selection</vt:lpstr>
      <vt:lpstr>Feature Selection Technique</vt:lpstr>
      <vt:lpstr>Filter Method (Before Model Training)</vt:lpstr>
      <vt:lpstr>Filter Method (Before Model Training)</vt:lpstr>
      <vt:lpstr>PowerPoint Presentation</vt:lpstr>
      <vt:lpstr>Wrapper Method (After Model Training)</vt:lpstr>
      <vt:lpstr>Wrapper Method (After Model Training)</vt:lpstr>
      <vt:lpstr>Embedded Methods (During Model Training)</vt:lpstr>
      <vt:lpstr>Embedded Methods (During Model Training)</vt:lpstr>
      <vt:lpstr>Feature Extraction Technique</vt:lpstr>
      <vt:lpstr>Principle Component Analysis</vt:lpstr>
      <vt:lpstr>Blog to Visit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Feature Selection</dc:title>
  <dc:creator>Krunal Gandhare</dc:creator>
  <cp:lastModifiedBy>Krunal Gandhare</cp:lastModifiedBy>
  <cp:revision>10</cp:revision>
  <dcterms:created xsi:type="dcterms:W3CDTF">2023-02-19T16:59:37Z</dcterms:created>
  <dcterms:modified xsi:type="dcterms:W3CDTF">2023-03-01T03:26:43Z</dcterms:modified>
</cp:coreProperties>
</file>